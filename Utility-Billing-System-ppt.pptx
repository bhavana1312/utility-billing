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DM Sans" pitchFamily="2" charset="0"/>
      <p:regular r:id="rId20"/>
    </p:embeddedFont>
    <p:embeddedFont>
      <p:font typeface="Dream Avenue" panose="020B0604020202020204" charset="0"/>
      <p:regular r:id="rId21"/>
    </p:embeddedFont>
    <p:embeddedFont>
      <p:font typeface="Montserrat Bold" panose="020B0604020202020204" charset="0"/>
      <p:regular r:id="rId22"/>
    </p:embeddedFont>
    <p:embeddedFont>
      <p:font typeface="Open Sans" panose="020B0606030504020204" pitchFamily="3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348545" y="-577523"/>
            <a:ext cx="19097640" cy="19097640"/>
          </a:xfrm>
          <a:custGeom>
            <a:avLst/>
            <a:gdLst/>
            <a:ahLst/>
            <a:cxnLst/>
            <a:rect l="l" t="t" r="r" b="b"/>
            <a:pathLst>
              <a:path w="19097640" h="19097640">
                <a:moveTo>
                  <a:pt x="0" y="0"/>
                </a:moveTo>
                <a:lnTo>
                  <a:pt x="19097640" y="0"/>
                </a:lnTo>
                <a:lnTo>
                  <a:pt x="19097640" y="19097640"/>
                </a:lnTo>
                <a:lnTo>
                  <a:pt x="0" y="19097640"/>
                </a:lnTo>
                <a:lnTo>
                  <a:pt x="0" y="0"/>
                </a:lnTo>
                <a:close/>
              </a:path>
            </a:pathLst>
          </a:custGeom>
          <a:blipFill>
            <a:blip r:embed="rId3"/>
            <a:stretch>
              <a:fillRect/>
            </a:stretch>
          </a:blipFill>
        </p:spPr>
      </p:sp>
      <p:grpSp>
        <p:nvGrpSpPr>
          <p:cNvPr id="4" name="Group 4"/>
          <p:cNvGrpSpPr/>
          <p:nvPr/>
        </p:nvGrpSpPr>
        <p:grpSpPr>
          <a:xfrm>
            <a:off x="-330123" y="-341199"/>
            <a:ext cx="19097640" cy="10969398"/>
            <a:chOff x="0" y="0"/>
            <a:chExt cx="7148862" cy="4138574"/>
          </a:xfrm>
        </p:grpSpPr>
        <p:sp>
          <p:nvSpPr>
            <p:cNvPr id="5" name="Freeform 5"/>
            <p:cNvSpPr/>
            <p:nvPr/>
          </p:nvSpPr>
          <p:spPr>
            <a:xfrm>
              <a:off x="0" y="0"/>
              <a:ext cx="7148861" cy="4138574"/>
            </a:xfrm>
            <a:custGeom>
              <a:avLst/>
              <a:gdLst/>
              <a:ahLst/>
              <a:cxnLst/>
              <a:rect l="l" t="t" r="r" b="b"/>
              <a:pathLst>
                <a:path w="7148861" h="4138574">
                  <a:moveTo>
                    <a:pt x="0" y="0"/>
                  </a:moveTo>
                  <a:lnTo>
                    <a:pt x="7148861" y="0"/>
                  </a:lnTo>
                  <a:lnTo>
                    <a:pt x="7148861" y="4138574"/>
                  </a:lnTo>
                  <a:lnTo>
                    <a:pt x="0" y="4138574"/>
                  </a:lnTo>
                  <a:close/>
                </a:path>
              </a:pathLst>
            </a:custGeom>
            <a:solidFill>
              <a:srgbClr val="01081D">
                <a:alpha val="58824"/>
              </a:srgbClr>
            </a:solidFill>
          </p:spPr>
        </p:sp>
      </p:grpSp>
      <p:sp>
        <p:nvSpPr>
          <p:cNvPr id="6" name="TextBox 6"/>
          <p:cNvSpPr txBox="1"/>
          <p:nvPr/>
        </p:nvSpPr>
        <p:spPr>
          <a:xfrm>
            <a:off x="1562016" y="2476500"/>
            <a:ext cx="15276519" cy="5562600"/>
          </a:xfrm>
          <a:prstGeom prst="rect">
            <a:avLst/>
          </a:prstGeom>
        </p:spPr>
        <p:txBody>
          <a:bodyPr lIns="0" tIns="0" rIns="0" bIns="0" rtlCol="0" anchor="t">
            <a:spAutoFit/>
          </a:bodyPr>
          <a:lstStyle/>
          <a:p>
            <a:pPr algn="ctr">
              <a:lnSpc>
                <a:spcPts val="21600"/>
              </a:lnSpc>
            </a:pPr>
            <a:r>
              <a:rPr lang="en-US" sz="20000">
                <a:solidFill>
                  <a:srgbClr val="FFFFFF"/>
                </a:solidFill>
                <a:latin typeface="Dream Avenue"/>
                <a:ea typeface="Dream Avenue"/>
                <a:cs typeface="Dream Avenue"/>
                <a:sym typeface="Dream Avenue"/>
              </a:rPr>
              <a:t>Utility Billing System</a:t>
            </a:r>
          </a:p>
        </p:txBody>
      </p:sp>
      <p:sp>
        <p:nvSpPr>
          <p:cNvPr id="7" name="TextBox 7"/>
          <p:cNvSpPr txBox="1"/>
          <p:nvPr/>
        </p:nvSpPr>
        <p:spPr>
          <a:xfrm>
            <a:off x="3247445" y="8060167"/>
            <a:ext cx="12413642" cy="1198133"/>
          </a:xfrm>
          <a:prstGeom prst="rect">
            <a:avLst/>
          </a:prstGeom>
        </p:spPr>
        <p:txBody>
          <a:bodyPr lIns="0" tIns="0" rIns="0" bIns="0" rtlCol="0" anchor="t">
            <a:spAutoFit/>
          </a:bodyPr>
          <a:lstStyle/>
          <a:p>
            <a:pPr algn="ctr">
              <a:lnSpc>
                <a:spcPts val="4836"/>
              </a:lnSpc>
            </a:pPr>
            <a:r>
              <a:rPr lang="en-US" sz="3454">
                <a:solidFill>
                  <a:srgbClr val="FFFFFF"/>
                </a:solidFill>
                <a:latin typeface="Open Sans"/>
                <a:ea typeface="Open Sans"/>
                <a:cs typeface="Open Sans"/>
                <a:sym typeface="Open Sans"/>
              </a:rPr>
              <a:t>A SECURE FULL-STACK MICROSERVICES APPLICATION FOR UTILITY MANAGEMENT</a:t>
            </a:r>
          </a:p>
        </p:txBody>
      </p:sp>
      <p:sp>
        <p:nvSpPr>
          <p:cNvPr id="8" name="TextBox 8"/>
          <p:cNvSpPr txBox="1"/>
          <p:nvPr/>
        </p:nvSpPr>
        <p:spPr>
          <a:xfrm rot="-5400000">
            <a:off x="-2141578" y="4795604"/>
            <a:ext cx="5971925" cy="368633"/>
          </a:xfrm>
          <a:prstGeom prst="rect">
            <a:avLst/>
          </a:prstGeom>
        </p:spPr>
        <p:txBody>
          <a:bodyPr lIns="0" tIns="0" rIns="0" bIns="0" rtlCol="0" anchor="t">
            <a:spAutoFit/>
          </a:bodyPr>
          <a:lstStyle/>
          <a:p>
            <a:pPr algn="ctr">
              <a:lnSpc>
                <a:spcPts val="3217"/>
              </a:lnSpc>
            </a:pPr>
            <a:r>
              <a:rPr lang="en-US" sz="1787" b="1" spc="357">
                <a:solidFill>
                  <a:srgbClr val="FFFFFF"/>
                </a:solidFill>
                <a:latin typeface="Montserrat Bold"/>
                <a:ea typeface="Montserrat Bold"/>
                <a:cs typeface="Montserrat Bold"/>
                <a:sym typeface="Montserrat Bold"/>
              </a:rPr>
              <a:t>CAPSTONE PROJECT</a:t>
            </a:r>
          </a:p>
        </p:txBody>
      </p:sp>
      <p:sp>
        <p:nvSpPr>
          <p:cNvPr id="9" name="TextBox 9"/>
          <p:cNvSpPr txBox="1"/>
          <p:nvPr/>
        </p:nvSpPr>
        <p:spPr>
          <a:xfrm>
            <a:off x="3980630" y="9442644"/>
            <a:ext cx="9666495" cy="368633"/>
          </a:xfrm>
          <a:prstGeom prst="rect">
            <a:avLst/>
          </a:prstGeom>
        </p:spPr>
        <p:txBody>
          <a:bodyPr lIns="0" tIns="0" rIns="0" bIns="0" rtlCol="0" anchor="t">
            <a:spAutoFit/>
          </a:bodyPr>
          <a:lstStyle/>
          <a:p>
            <a:pPr algn="ctr">
              <a:lnSpc>
                <a:spcPts val="3217"/>
              </a:lnSpc>
            </a:pPr>
            <a:r>
              <a:rPr lang="en-US" sz="1787" b="1" spc="357" dirty="0">
                <a:solidFill>
                  <a:srgbClr val="FFFFFF"/>
                </a:solidFill>
                <a:latin typeface="Montserrat Bold"/>
                <a:ea typeface="Montserrat Bold"/>
                <a:cs typeface="Montserrat Bold"/>
                <a:sym typeface="Montserrat Bold"/>
              </a:rPr>
              <a:t>BUILT WITH SPRING BOOT, ANGULAR, AND MONGODB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extBox 2"/>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Project Overview</a:t>
            </a:r>
          </a:p>
        </p:txBody>
      </p:sp>
      <p:sp>
        <p:nvSpPr>
          <p:cNvPr id="3" name="TextBox 3"/>
          <p:cNvSpPr txBox="1"/>
          <p:nvPr/>
        </p:nvSpPr>
        <p:spPr>
          <a:xfrm>
            <a:off x="1111996" y="2378235"/>
            <a:ext cx="13485856" cy="2065020"/>
          </a:xfrm>
          <a:prstGeom prst="rect">
            <a:avLst/>
          </a:prstGeom>
        </p:spPr>
        <p:txBody>
          <a:bodyPr lIns="0" tIns="0" rIns="0" bIns="0" rtlCol="0" anchor="t">
            <a:spAutoFit/>
          </a:bodyPr>
          <a:lstStyle/>
          <a:p>
            <a:pPr marL="0" lvl="0" indent="0" algn="just">
              <a:lnSpc>
                <a:spcPts val="4199"/>
              </a:lnSpc>
            </a:pPr>
            <a:r>
              <a:rPr lang="en-US" sz="2799">
                <a:solidFill>
                  <a:srgbClr val="000000"/>
                </a:solidFill>
                <a:latin typeface="Open Sans"/>
                <a:ea typeface="Open Sans"/>
                <a:cs typeface="Open Sans"/>
                <a:sym typeface="Open Sans"/>
              </a:rPr>
              <a:t>This system is a digital platform that helps manage household services like electricity and gas by tracking usage through meter readings, automatically calculating monthly bills, and providing an easy way for people to pay their dues online or at a counter.</a:t>
            </a:r>
          </a:p>
        </p:txBody>
      </p:sp>
      <p:grpSp>
        <p:nvGrpSpPr>
          <p:cNvPr id="4" name="Group 4"/>
          <p:cNvGrpSpPr/>
          <p:nvPr/>
        </p:nvGrpSpPr>
        <p:grpSpPr>
          <a:xfrm>
            <a:off x="15146533" y="0"/>
            <a:ext cx="3983039" cy="10287000"/>
            <a:chOff x="0" y="0"/>
            <a:chExt cx="1049031" cy="2709333"/>
          </a:xfrm>
        </p:grpSpPr>
        <p:sp>
          <p:nvSpPr>
            <p:cNvPr id="5" name="Freeform 5"/>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6" name="TextBox 6"/>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7" name="TextBox 7"/>
          <p:cNvSpPr txBox="1"/>
          <p:nvPr/>
        </p:nvSpPr>
        <p:spPr>
          <a:xfrm>
            <a:off x="1028700" y="4852830"/>
            <a:ext cx="13755976" cy="4389120"/>
          </a:xfrm>
          <a:prstGeom prst="rect">
            <a:avLst/>
          </a:prstGeom>
        </p:spPr>
        <p:txBody>
          <a:bodyPr lIns="0" tIns="0" rIns="0" bIns="0" rtlCol="0" anchor="t">
            <a:spAutoFit/>
          </a:bodyPr>
          <a:lstStyle/>
          <a:p>
            <a:pPr algn="just">
              <a:lnSpc>
                <a:spcPts val="4199"/>
              </a:lnSpc>
            </a:pPr>
            <a:r>
              <a:rPr lang="en-US" sz="2799">
                <a:solidFill>
                  <a:srgbClr val="000000"/>
                </a:solidFill>
                <a:latin typeface="Open Sans"/>
                <a:ea typeface="Open Sans"/>
                <a:cs typeface="Open Sans"/>
                <a:sym typeface="Open Sans"/>
              </a:rPr>
              <a:t>Key Features:</a:t>
            </a:r>
          </a:p>
          <a:p>
            <a:pPr algn="just">
              <a:lnSpc>
                <a:spcPts val="1800"/>
              </a:lnSpc>
            </a:pPr>
            <a:endParaRPr lang="en-US" sz="2799">
              <a:solidFill>
                <a:srgbClr val="000000"/>
              </a:solidFill>
              <a:latin typeface="Open Sans"/>
              <a:ea typeface="Open Sans"/>
              <a:cs typeface="Open Sans"/>
              <a:sym typeface="Open Sans"/>
            </a:endParaRP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Centralized Control: Unified management of Electricity, Gas, and Water utilities.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Billing Accuracy: Automated calculation using dynamic Multi-Slab Tariff logic.</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Role-Based Access: Secure dashboards for Admin, Billing, Accounts, and Consumers.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Seamless Payments: Integrated OTP-verified online payments and offline recording.</a:t>
            </a:r>
          </a:p>
          <a:p>
            <a:pPr marL="0" lvl="0" indent="0" algn="just">
              <a:lnSpc>
                <a:spcPts val="4199"/>
              </a:lnSpc>
            </a:pPr>
            <a:endParaRPr lang="en-US" sz="2799">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5565813" y="264105"/>
            <a:ext cx="10964934" cy="9758791"/>
          </a:xfrm>
          <a:custGeom>
            <a:avLst/>
            <a:gdLst/>
            <a:ahLst/>
            <a:cxnLst/>
            <a:rect l="l" t="t" r="r" b="b"/>
            <a:pathLst>
              <a:path w="10964934" h="9758791">
                <a:moveTo>
                  <a:pt x="0" y="0"/>
                </a:moveTo>
                <a:lnTo>
                  <a:pt x="10964933" y="0"/>
                </a:lnTo>
                <a:lnTo>
                  <a:pt x="10964933" y="9758790"/>
                </a:lnTo>
                <a:lnTo>
                  <a:pt x="0" y="9758790"/>
                </a:lnTo>
                <a:lnTo>
                  <a:pt x="0" y="0"/>
                </a:lnTo>
                <a:close/>
              </a:path>
            </a:pathLst>
          </a:custGeom>
          <a:blipFill>
            <a:blip r:embed="rId2"/>
            <a:stretch>
              <a:fillRect/>
            </a:stretch>
          </a:blipFill>
        </p:spPr>
      </p:sp>
      <p:sp>
        <p:nvSpPr>
          <p:cNvPr id="6" name="TextBox 6"/>
          <p:cNvSpPr txBox="1"/>
          <p:nvPr/>
        </p:nvSpPr>
        <p:spPr>
          <a:xfrm>
            <a:off x="751835" y="4200525"/>
            <a:ext cx="5617577" cy="1885950"/>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System Architecture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extBox 2"/>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System Architecture</a:t>
            </a:r>
          </a:p>
        </p:txBody>
      </p:sp>
      <p:sp>
        <p:nvSpPr>
          <p:cNvPr id="3" name="TextBox 3"/>
          <p:cNvSpPr txBox="1"/>
          <p:nvPr/>
        </p:nvSpPr>
        <p:spPr>
          <a:xfrm>
            <a:off x="1028700" y="2132200"/>
            <a:ext cx="13569152" cy="2588895"/>
          </a:xfrm>
          <a:prstGeom prst="rect">
            <a:avLst/>
          </a:prstGeom>
        </p:spPr>
        <p:txBody>
          <a:bodyPr lIns="0" tIns="0" rIns="0" bIns="0" rtlCol="0" anchor="t">
            <a:spAutoFit/>
          </a:bodyPr>
          <a:lstStyle/>
          <a:p>
            <a:pPr algn="just">
              <a:lnSpc>
                <a:spcPts val="4199"/>
              </a:lnSpc>
            </a:pPr>
            <a:r>
              <a:rPr lang="en-US" sz="2799">
                <a:solidFill>
                  <a:srgbClr val="000000"/>
                </a:solidFill>
                <a:latin typeface="Open Sans"/>
                <a:ea typeface="Open Sans"/>
                <a:cs typeface="Open Sans"/>
                <a:sym typeface="Open Sans"/>
              </a:rPr>
              <a:t>Infrastructure Components: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API Gateway: Single entry point for routing, JWT validation.</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Service Registry (Eureka): Dynamically tracks all active microservice instances.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Config Server: Centralized, Git-backed management for service properties.</a:t>
            </a:r>
          </a:p>
          <a:p>
            <a:pPr marL="0" lvl="0" indent="0" algn="just">
              <a:lnSpc>
                <a:spcPts val="4199"/>
              </a:lnSpc>
            </a:pPr>
            <a:endParaRPr lang="en-US" sz="2799">
              <a:solidFill>
                <a:srgbClr val="000000"/>
              </a:solidFill>
              <a:latin typeface="Open Sans"/>
              <a:ea typeface="Open Sans"/>
              <a:cs typeface="Open Sans"/>
              <a:sym typeface="Open Sans"/>
            </a:endParaRPr>
          </a:p>
        </p:txBody>
      </p:sp>
      <p:grpSp>
        <p:nvGrpSpPr>
          <p:cNvPr id="4" name="Group 4"/>
          <p:cNvGrpSpPr/>
          <p:nvPr/>
        </p:nvGrpSpPr>
        <p:grpSpPr>
          <a:xfrm>
            <a:off x="15146533" y="0"/>
            <a:ext cx="3983039" cy="10287000"/>
            <a:chOff x="0" y="0"/>
            <a:chExt cx="1049031" cy="2709333"/>
          </a:xfrm>
        </p:grpSpPr>
        <p:sp>
          <p:nvSpPr>
            <p:cNvPr id="5" name="Freeform 5"/>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6" name="TextBox 6"/>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7" name="TextBox 7"/>
          <p:cNvSpPr txBox="1"/>
          <p:nvPr/>
        </p:nvSpPr>
        <p:spPr>
          <a:xfrm>
            <a:off x="1028700" y="4284734"/>
            <a:ext cx="13569152" cy="5732145"/>
          </a:xfrm>
          <a:prstGeom prst="rect">
            <a:avLst/>
          </a:prstGeom>
        </p:spPr>
        <p:txBody>
          <a:bodyPr lIns="0" tIns="0" rIns="0" bIns="0" rtlCol="0" anchor="t">
            <a:spAutoFit/>
          </a:bodyPr>
          <a:lstStyle/>
          <a:p>
            <a:pPr algn="just">
              <a:lnSpc>
                <a:spcPts val="4199"/>
              </a:lnSpc>
            </a:pPr>
            <a:r>
              <a:rPr lang="en-US" sz="2799">
                <a:solidFill>
                  <a:srgbClr val="000000"/>
                </a:solidFill>
                <a:latin typeface="Open Sans"/>
                <a:ea typeface="Open Sans"/>
                <a:cs typeface="Open Sans"/>
                <a:sym typeface="Open Sans"/>
              </a:rPr>
              <a:t>Microservices Breakdown</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Auth Service: Manages user identities and security tokens.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Consumer Service: Handles the lifecycle of ConsumerRequest and consumer profiles.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Meter Service: Manages ConnectionRequests, physical meter mapping, and MeterReadings.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Tariff Service: CRUD operations for utility plans and multi-slab rate logic.</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Billing Service: The engine that calculates charges based on consumption and tariff slabs.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Payment Service: Manages OTP-based online payments and offline receipts.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Notification Service: Asynchronous engine for Email/SMS alerts.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5215736" y="128736"/>
            <a:ext cx="10886870" cy="10029529"/>
          </a:xfrm>
          <a:custGeom>
            <a:avLst/>
            <a:gdLst/>
            <a:ahLst/>
            <a:cxnLst/>
            <a:rect l="l" t="t" r="r" b="b"/>
            <a:pathLst>
              <a:path w="10886870" h="10029529">
                <a:moveTo>
                  <a:pt x="0" y="0"/>
                </a:moveTo>
                <a:lnTo>
                  <a:pt x="10886869" y="0"/>
                </a:lnTo>
                <a:lnTo>
                  <a:pt x="10886869" y="10029528"/>
                </a:lnTo>
                <a:lnTo>
                  <a:pt x="0" y="10029528"/>
                </a:lnTo>
                <a:lnTo>
                  <a:pt x="0" y="0"/>
                </a:lnTo>
                <a:close/>
              </a:path>
            </a:pathLst>
          </a:custGeom>
          <a:blipFill>
            <a:blip r:embed="rId2"/>
            <a:stretch>
              <a:fillRect/>
            </a:stretch>
          </a:blipFill>
        </p:spPr>
      </p:sp>
      <p:sp>
        <p:nvSpPr>
          <p:cNvPr id="6" name="TextBox 6"/>
          <p:cNvSpPr txBox="1"/>
          <p:nvPr/>
        </p:nvSpPr>
        <p:spPr>
          <a:xfrm>
            <a:off x="751835" y="4200525"/>
            <a:ext cx="3749244" cy="1885950"/>
          </a:xfrm>
          <a:prstGeom prst="rect">
            <a:avLst/>
          </a:prstGeom>
        </p:spPr>
        <p:txBody>
          <a:bodyPr lIns="0" tIns="0" rIns="0" bIns="0" rtlCol="0" anchor="t">
            <a:spAutoFit/>
          </a:bodyPr>
          <a:lstStyle/>
          <a:p>
            <a:pPr algn="l">
              <a:lnSpc>
                <a:spcPts val="7458"/>
              </a:lnSpc>
            </a:pPr>
            <a:r>
              <a:rPr lang="en-US" sz="6215">
                <a:solidFill>
                  <a:srgbClr val="000000"/>
                </a:solidFill>
                <a:latin typeface="DM Sans"/>
                <a:ea typeface="DM Sans"/>
                <a:cs typeface="DM Sans"/>
                <a:sym typeface="DM Sans"/>
              </a:rPr>
              <a:t>Database </a:t>
            </a:r>
          </a:p>
          <a:p>
            <a:pPr marL="0" lvl="0" indent="0" algn="l">
              <a:lnSpc>
                <a:spcPts val="7458"/>
              </a:lnSpc>
              <a:spcBef>
                <a:spcPct val="0"/>
              </a:spcBef>
            </a:pPr>
            <a:r>
              <a:rPr lang="en-US" sz="6215">
                <a:solidFill>
                  <a:srgbClr val="000000"/>
                </a:solidFill>
                <a:latin typeface="DM Sans"/>
                <a:ea typeface="DM Sans"/>
                <a:cs typeface="DM Sans"/>
                <a:sym typeface="DM Sans"/>
              </a:rPr>
              <a:t>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extBox 2"/>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Database Design</a:t>
            </a:r>
          </a:p>
        </p:txBody>
      </p:sp>
      <p:sp>
        <p:nvSpPr>
          <p:cNvPr id="3" name="TextBox 3"/>
          <p:cNvSpPr txBox="1"/>
          <p:nvPr/>
        </p:nvSpPr>
        <p:spPr>
          <a:xfrm>
            <a:off x="1028700" y="6006934"/>
            <a:ext cx="13569152" cy="2817495"/>
          </a:xfrm>
          <a:prstGeom prst="rect">
            <a:avLst/>
          </a:prstGeom>
        </p:spPr>
        <p:txBody>
          <a:bodyPr lIns="0" tIns="0" rIns="0" bIns="0" rtlCol="0" anchor="t">
            <a:spAutoFit/>
          </a:bodyPr>
          <a:lstStyle/>
          <a:p>
            <a:pPr algn="just">
              <a:lnSpc>
                <a:spcPts val="4199"/>
              </a:lnSpc>
            </a:pPr>
            <a:r>
              <a:rPr lang="en-US" sz="2799">
                <a:solidFill>
                  <a:srgbClr val="000000"/>
                </a:solidFill>
                <a:latin typeface="Open Sans"/>
                <a:ea typeface="Open Sans"/>
                <a:cs typeface="Open Sans"/>
                <a:sym typeface="Open Sans"/>
              </a:rPr>
              <a:t>Why MongoDB?</a:t>
            </a:r>
          </a:p>
          <a:p>
            <a:pPr algn="just">
              <a:lnSpc>
                <a:spcPts val="1800"/>
              </a:lnSpc>
            </a:pPr>
            <a:endParaRPr lang="en-US" sz="2799">
              <a:solidFill>
                <a:srgbClr val="000000"/>
              </a:solidFill>
              <a:latin typeface="Open Sans"/>
              <a:ea typeface="Open Sans"/>
              <a:cs typeface="Open Sans"/>
              <a:sym typeface="Open Sans"/>
            </a:endParaRP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Data structures like tariffs, bills, and payments change over time</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MongoDB allows flexible schemas without frequent migrations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Works naturally with microservices and document-based data</a:t>
            </a:r>
          </a:p>
          <a:p>
            <a:pPr marL="0" lvl="0" indent="0" algn="just">
              <a:lnSpc>
                <a:spcPts val="4199"/>
              </a:lnSpc>
            </a:pPr>
            <a:endParaRPr lang="en-US" sz="2799">
              <a:solidFill>
                <a:srgbClr val="000000"/>
              </a:solidFill>
              <a:latin typeface="Open Sans"/>
              <a:ea typeface="Open Sans"/>
              <a:cs typeface="Open Sans"/>
              <a:sym typeface="Open Sans"/>
            </a:endParaRPr>
          </a:p>
        </p:txBody>
      </p:sp>
      <p:grpSp>
        <p:nvGrpSpPr>
          <p:cNvPr id="4" name="Group 4"/>
          <p:cNvGrpSpPr/>
          <p:nvPr/>
        </p:nvGrpSpPr>
        <p:grpSpPr>
          <a:xfrm>
            <a:off x="15146533" y="0"/>
            <a:ext cx="3983039" cy="10287000"/>
            <a:chOff x="0" y="0"/>
            <a:chExt cx="1049031" cy="2709333"/>
          </a:xfrm>
        </p:grpSpPr>
        <p:sp>
          <p:nvSpPr>
            <p:cNvPr id="5" name="Freeform 5"/>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6" name="TextBox 6"/>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7" name="TextBox 7"/>
          <p:cNvSpPr txBox="1"/>
          <p:nvPr/>
        </p:nvSpPr>
        <p:spPr>
          <a:xfrm>
            <a:off x="1028700" y="2446489"/>
            <a:ext cx="13569152" cy="311277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Each microservice owns its own database</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Prevents tight coupling between services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Allows each service to scale independently</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Relationships are managed at the service layer, not database joins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Financial data is immutable once finalized</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Updates are handled via status changes, not data modification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extBox 2"/>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Functional Roles (Actors)</a:t>
            </a:r>
          </a:p>
        </p:txBody>
      </p:sp>
      <p:sp>
        <p:nvSpPr>
          <p:cNvPr id="3" name="TextBox 3"/>
          <p:cNvSpPr txBox="1"/>
          <p:nvPr/>
        </p:nvSpPr>
        <p:spPr>
          <a:xfrm>
            <a:off x="1111996" y="2378235"/>
            <a:ext cx="13485856" cy="4160520"/>
          </a:xfrm>
          <a:prstGeom prst="rect">
            <a:avLst/>
          </a:prstGeom>
        </p:spPr>
        <p:txBody>
          <a:bodyPr lIns="0" tIns="0" rIns="0" bIns="0" rtlCol="0" anchor="t">
            <a:spAutoFit/>
          </a:bodyPr>
          <a:lstStyle/>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Admin: Manages tariff plans, approves consumer/connection requests, and monitors system health.</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Billing Officer: Records periodic meter readings and triggers bill generation.</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Accounts Officer: Tracks outstanding balances and processes offline (walk-in) payments.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Consumer: Views consumption history, pays bills online, and manages connection requests.</a:t>
            </a:r>
          </a:p>
          <a:p>
            <a:pPr marL="0" lvl="0" indent="0" algn="just">
              <a:lnSpc>
                <a:spcPts val="4199"/>
              </a:lnSpc>
            </a:pPr>
            <a:endParaRPr lang="en-US" sz="2799">
              <a:solidFill>
                <a:srgbClr val="000000"/>
              </a:solidFill>
              <a:latin typeface="Open Sans"/>
              <a:ea typeface="Open Sans"/>
              <a:cs typeface="Open Sans"/>
              <a:sym typeface="Open Sans"/>
            </a:endParaRPr>
          </a:p>
        </p:txBody>
      </p:sp>
      <p:grpSp>
        <p:nvGrpSpPr>
          <p:cNvPr id="4" name="Group 4"/>
          <p:cNvGrpSpPr/>
          <p:nvPr/>
        </p:nvGrpSpPr>
        <p:grpSpPr>
          <a:xfrm>
            <a:off x="15146533" y="0"/>
            <a:ext cx="3983039" cy="10287000"/>
            <a:chOff x="0" y="0"/>
            <a:chExt cx="1049031" cy="2709333"/>
          </a:xfrm>
        </p:grpSpPr>
        <p:sp>
          <p:nvSpPr>
            <p:cNvPr id="5" name="Freeform 5"/>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6" name="TextBox 6"/>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8746897" y="3109184"/>
            <a:ext cx="9157323" cy="6467360"/>
          </a:xfrm>
          <a:custGeom>
            <a:avLst/>
            <a:gdLst/>
            <a:ahLst/>
            <a:cxnLst/>
            <a:rect l="l" t="t" r="r" b="b"/>
            <a:pathLst>
              <a:path w="9157323" h="6467360">
                <a:moveTo>
                  <a:pt x="0" y="0"/>
                </a:moveTo>
                <a:lnTo>
                  <a:pt x="9157324" y="0"/>
                </a:lnTo>
                <a:lnTo>
                  <a:pt x="9157324" y="6467359"/>
                </a:lnTo>
                <a:lnTo>
                  <a:pt x="0" y="6467359"/>
                </a:lnTo>
                <a:lnTo>
                  <a:pt x="0" y="0"/>
                </a:lnTo>
                <a:close/>
              </a:path>
            </a:pathLst>
          </a:custGeom>
          <a:blipFill>
            <a:blip r:embed="rId2"/>
            <a:stretch>
              <a:fillRect/>
            </a:stretch>
          </a:blipFill>
        </p:spPr>
      </p:sp>
      <p:sp>
        <p:nvSpPr>
          <p:cNvPr id="6" name="TextBox 6"/>
          <p:cNvSpPr txBox="1"/>
          <p:nvPr/>
        </p:nvSpPr>
        <p:spPr>
          <a:xfrm>
            <a:off x="235522" y="576262"/>
            <a:ext cx="15720003" cy="904875"/>
          </a:xfrm>
          <a:prstGeom prst="rect">
            <a:avLst/>
          </a:prstGeom>
        </p:spPr>
        <p:txBody>
          <a:bodyPr lIns="0" tIns="0" rIns="0" bIns="0" rtlCol="0" anchor="t">
            <a:spAutoFit/>
          </a:bodyPr>
          <a:lstStyle/>
          <a:p>
            <a:pPr marL="0" lvl="0" indent="0" algn="l">
              <a:lnSpc>
                <a:spcPts val="7199"/>
              </a:lnSpc>
              <a:spcBef>
                <a:spcPct val="0"/>
              </a:spcBef>
            </a:pPr>
            <a:r>
              <a:rPr lang="en-US" sz="5999">
                <a:solidFill>
                  <a:srgbClr val="000000"/>
                </a:solidFill>
                <a:latin typeface="DM Sans"/>
                <a:ea typeface="DM Sans"/>
                <a:cs typeface="DM Sans"/>
                <a:sym typeface="DM Sans"/>
              </a:rPr>
              <a:t>Security - Authentication &amp; Authorization</a:t>
            </a:r>
          </a:p>
        </p:txBody>
      </p:sp>
      <p:sp>
        <p:nvSpPr>
          <p:cNvPr id="7" name="TextBox 7"/>
          <p:cNvSpPr txBox="1"/>
          <p:nvPr/>
        </p:nvSpPr>
        <p:spPr>
          <a:xfrm>
            <a:off x="1337096" y="1707021"/>
            <a:ext cx="13516855" cy="1257300"/>
          </a:xfrm>
          <a:prstGeom prst="rect">
            <a:avLst/>
          </a:prstGeom>
        </p:spPr>
        <p:txBody>
          <a:bodyPr lIns="0" tIns="0" rIns="0" bIns="0" rtlCol="0" anchor="t">
            <a:spAutoFit/>
          </a:bodyPr>
          <a:lstStyle/>
          <a:p>
            <a:pPr algn="just">
              <a:lnSpc>
                <a:spcPts val="3359"/>
              </a:lnSpc>
              <a:spcBef>
                <a:spcPct val="0"/>
              </a:spcBef>
            </a:pPr>
            <a:r>
              <a:rPr lang="en-US" sz="2799">
                <a:solidFill>
                  <a:srgbClr val="000000"/>
                </a:solidFill>
                <a:latin typeface="DM Sans"/>
                <a:ea typeface="DM Sans"/>
                <a:cs typeface="DM Sans"/>
                <a:sym typeface="DM Sans"/>
              </a:rPr>
              <a:t>A user authenticates using valid credentials, receives a JWT token, and accesses secured backend services through the API Gateway.</a:t>
            </a:r>
          </a:p>
          <a:p>
            <a:pPr algn="just">
              <a:lnSpc>
                <a:spcPts val="3359"/>
              </a:lnSpc>
              <a:spcBef>
                <a:spcPct val="0"/>
              </a:spcBef>
            </a:pPr>
            <a:endParaRPr lang="en-US" sz="2799">
              <a:solidFill>
                <a:srgbClr val="000000"/>
              </a:solidFill>
              <a:latin typeface="DM Sans"/>
              <a:ea typeface="DM Sans"/>
              <a:cs typeface="DM Sans"/>
              <a:sym typeface="DM Sans"/>
            </a:endParaRPr>
          </a:p>
        </p:txBody>
      </p:sp>
      <p:sp>
        <p:nvSpPr>
          <p:cNvPr id="8" name="TextBox 8"/>
          <p:cNvSpPr txBox="1"/>
          <p:nvPr/>
        </p:nvSpPr>
        <p:spPr>
          <a:xfrm>
            <a:off x="671576" y="2964321"/>
            <a:ext cx="8075321" cy="6915150"/>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DM Sans"/>
                <a:ea typeface="DM Sans"/>
                <a:cs typeface="DM Sans"/>
                <a:sym typeface="DM Sans"/>
              </a:rPr>
              <a:t>1. The user submits login credentials to the API Gateway.</a:t>
            </a:r>
          </a:p>
          <a:p>
            <a:pPr algn="l">
              <a:lnSpc>
                <a:spcPts val="3359"/>
              </a:lnSpc>
              <a:spcBef>
                <a:spcPct val="0"/>
              </a:spcBef>
            </a:pPr>
            <a:r>
              <a:rPr lang="en-US" sz="2799">
                <a:solidFill>
                  <a:srgbClr val="000000"/>
                </a:solidFill>
                <a:latin typeface="DM Sans"/>
                <a:ea typeface="DM Sans"/>
                <a:cs typeface="DM Sans"/>
                <a:sym typeface="DM Sans"/>
              </a:rPr>
              <a:t>2. The API Gateway forwards the authentication request to the Auth Service.</a:t>
            </a:r>
          </a:p>
          <a:p>
            <a:pPr algn="l">
              <a:lnSpc>
                <a:spcPts val="3359"/>
              </a:lnSpc>
              <a:spcBef>
                <a:spcPct val="0"/>
              </a:spcBef>
            </a:pPr>
            <a:r>
              <a:rPr lang="en-US" sz="2799">
                <a:solidFill>
                  <a:srgbClr val="000000"/>
                </a:solidFill>
                <a:latin typeface="DM Sans"/>
                <a:ea typeface="DM Sans"/>
                <a:cs typeface="DM Sans"/>
                <a:sym typeface="DM Sans"/>
              </a:rPr>
              <a:t>3. The Auth Service validates the user credentials against stored user data.</a:t>
            </a:r>
          </a:p>
          <a:p>
            <a:pPr algn="l">
              <a:lnSpc>
                <a:spcPts val="4199"/>
              </a:lnSpc>
            </a:pPr>
            <a:r>
              <a:rPr lang="en-US" sz="2799">
                <a:solidFill>
                  <a:srgbClr val="000000"/>
                </a:solidFill>
                <a:latin typeface="DM Sans"/>
                <a:ea typeface="DM Sans"/>
                <a:cs typeface="DM Sans"/>
                <a:sym typeface="DM Sans"/>
              </a:rPr>
              <a:t>4. Upon successful authentication, the Auth Service generates a JWT token.</a:t>
            </a:r>
          </a:p>
          <a:p>
            <a:pPr algn="l">
              <a:lnSpc>
                <a:spcPts val="3359"/>
              </a:lnSpc>
              <a:spcBef>
                <a:spcPct val="0"/>
              </a:spcBef>
            </a:pPr>
            <a:r>
              <a:rPr lang="en-US" sz="2799">
                <a:solidFill>
                  <a:srgbClr val="000000"/>
                </a:solidFill>
                <a:latin typeface="DM Sans"/>
                <a:ea typeface="DM Sans"/>
                <a:cs typeface="DM Sans"/>
                <a:sym typeface="DM Sans"/>
              </a:rPr>
              <a:t>5. The JWT token is returned to the user through the API Gateway.</a:t>
            </a:r>
          </a:p>
          <a:p>
            <a:pPr algn="l">
              <a:lnSpc>
                <a:spcPts val="3359"/>
              </a:lnSpc>
              <a:spcBef>
                <a:spcPct val="0"/>
              </a:spcBef>
            </a:pPr>
            <a:r>
              <a:rPr lang="en-US" sz="2799">
                <a:solidFill>
                  <a:srgbClr val="000000"/>
                </a:solidFill>
                <a:latin typeface="DM Sans"/>
                <a:ea typeface="DM Sans"/>
                <a:cs typeface="DM Sans"/>
                <a:sym typeface="DM Sans"/>
              </a:rPr>
              <a:t>6. For subsequent requests, the user sends the JWT token along with the API request.</a:t>
            </a:r>
          </a:p>
          <a:p>
            <a:pPr algn="l">
              <a:lnSpc>
                <a:spcPts val="3359"/>
              </a:lnSpc>
              <a:spcBef>
                <a:spcPct val="0"/>
              </a:spcBef>
            </a:pPr>
            <a:r>
              <a:rPr lang="en-US" sz="2799">
                <a:solidFill>
                  <a:srgbClr val="000000"/>
                </a:solidFill>
                <a:latin typeface="DM Sans"/>
                <a:ea typeface="DM Sans"/>
                <a:cs typeface="DM Sans"/>
                <a:sym typeface="DM Sans"/>
              </a:rPr>
              <a:t>7. The API Gateway validates the JWT token and extracts user role information.</a:t>
            </a:r>
          </a:p>
          <a:p>
            <a:pPr algn="l">
              <a:lnSpc>
                <a:spcPts val="3359"/>
              </a:lnSpc>
              <a:spcBef>
                <a:spcPct val="0"/>
              </a:spcBef>
            </a:pPr>
            <a:r>
              <a:rPr lang="en-US" sz="2799">
                <a:solidFill>
                  <a:srgbClr val="000000"/>
                </a:solidFill>
                <a:latin typeface="DM Sans"/>
                <a:ea typeface="DM Sans"/>
                <a:cs typeface="DM Sans"/>
                <a:sym typeface="DM Sans"/>
              </a:rPr>
              <a:t>8. If valid, the request is forwarded to the appropriate downstream service.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597189" y="3899739"/>
            <a:ext cx="10965384" cy="4893303"/>
          </a:xfrm>
          <a:custGeom>
            <a:avLst/>
            <a:gdLst/>
            <a:ahLst/>
            <a:cxnLst/>
            <a:rect l="l" t="t" r="r" b="b"/>
            <a:pathLst>
              <a:path w="10965384" h="4893303">
                <a:moveTo>
                  <a:pt x="0" y="0"/>
                </a:moveTo>
                <a:lnTo>
                  <a:pt x="10965384" y="0"/>
                </a:lnTo>
                <a:lnTo>
                  <a:pt x="10965384" y="4893302"/>
                </a:lnTo>
                <a:lnTo>
                  <a:pt x="0" y="4893302"/>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Application Life Cycle</a:t>
            </a:r>
          </a:p>
        </p:txBody>
      </p:sp>
      <p:sp>
        <p:nvSpPr>
          <p:cNvPr id="7" name="TextBox 7"/>
          <p:cNvSpPr txBox="1"/>
          <p:nvPr/>
        </p:nvSpPr>
        <p:spPr>
          <a:xfrm>
            <a:off x="1028700" y="4316073"/>
            <a:ext cx="5313012" cy="4684395"/>
          </a:xfrm>
          <a:prstGeom prst="rect">
            <a:avLst/>
          </a:prstGeom>
        </p:spPr>
        <p:txBody>
          <a:bodyPr lIns="0" tIns="0" rIns="0" bIns="0" rtlCol="0" anchor="t">
            <a:spAutoFit/>
          </a:bodyPr>
          <a:lstStyle/>
          <a:p>
            <a:pPr marL="0" lvl="0" indent="0" algn="l">
              <a:lnSpc>
                <a:spcPts val="4199"/>
              </a:lnSpc>
            </a:pPr>
            <a:r>
              <a:rPr lang="en-US" sz="2799">
                <a:solidFill>
                  <a:srgbClr val="000000"/>
                </a:solidFill>
                <a:latin typeface="Open Sans"/>
                <a:ea typeface="Open Sans"/>
                <a:cs typeface="Open Sans"/>
                <a:sym typeface="Open Sans"/>
              </a:rPr>
              <a:t>1.Admin updates tariff plans through the Gateway.</a:t>
            </a:r>
          </a:p>
          <a:p>
            <a:pPr algn="l">
              <a:lnSpc>
                <a:spcPts val="4199"/>
              </a:lnSpc>
            </a:pPr>
            <a:endParaRPr lang="en-US" sz="2799">
              <a:solidFill>
                <a:srgbClr val="000000"/>
              </a:solidFill>
              <a:latin typeface="Open Sans"/>
              <a:ea typeface="Open Sans"/>
              <a:cs typeface="Open Sans"/>
              <a:sym typeface="Open Sans"/>
            </a:endParaRPr>
          </a:p>
          <a:p>
            <a:pPr marL="0" lvl="0" indent="0" algn="l">
              <a:lnSpc>
                <a:spcPts val="4199"/>
              </a:lnSpc>
            </a:pPr>
            <a:r>
              <a:rPr lang="en-US" sz="2799">
                <a:solidFill>
                  <a:srgbClr val="000000"/>
                </a:solidFill>
                <a:latin typeface="Open Sans"/>
                <a:ea typeface="Open Sans"/>
                <a:cs typeface="Open Sans"/>
                <a:sym typeface="Open Sans"/>
              </a:rPr>
              <a:t>2.Gateway forwards the request to the Tariff Service.</a:t>
            </a:r>
          </a:p>
          <a:p>
            <a:pPr marL="0" lvl="0" indent="0" algn="l">
              <a:lnSpc>
                <a:spcPts val="4199"/>
              </a:lnSpc>
            </a:pPr>
            <a:endParaRPr lang="en-US" sz="2799">
              <a:solidFill>
                <a:srgbClr val="000000"/>
              </a:solidFill>
              <a:latin typeface="Open Sans"/>
              <a:ea typeface="Open Sans"/>
              <a:cs typeface="Open Sans"/>
              <a:sym typeface="Open Sans"/>
            </a:endParaRPr>
          </a:p>
          <a:p>
            <a:pPr algn="l">
              <a:lnSpc>
                <a:spcPts val="4199"/>
              </a:lnSpc>
            </a:pPr>
            <a:r>
              <a:rPr lang="en-US" sz="2799">
                <a:solidFill>
                  <a:srgbClr val="000000"/>
                </a:solidFill>
                <a:latin typeface="Open Sans"/>
                <a:ea typeface="Open Sans"/>
                <a:cs typeface="Open Sans"/>
                <a:sym typeface="Open Sans"/>
              </a:rPr>
              <a:t>3.Tariff Service saves the updated tariff configuration.</a:t>
            </a:r>
          </a:p>
          <a:p>
            <a:pPr marL="0" lvl="0" indent="0" algn="l">
              <a:lnSpc>
                <a:spcPts val="4199"/>
              </a:lnSpc>
            </a:pPr>
            <a:endParaRPr lang="en-US" sz="2799">
              <a:solidFill>
                <a:srgbClr val="000000"/>
              </a:solidFill>
              <a:latin typeface="Open Sans"/>
              <a:ea typeface="Open Sans"/>
              <a:cs typeface="Open Sans"/>
              <a:sym typeface="Open Sans"/>
            </a:endParaRPr>
          </a:p>
        </p:txBody>
      </p:sp>
      <p:sp>
        <p:nvSpPr>
          <p:cNvPr id="8" name="TextBox 8"/>
          <p:cNvSpPr txBox="1"/>
          <p:nvPr/>
        </p:nvSpPr>
        <p:spPr>
          <a:xfrm>
            <a:off x="1433881" y="3118689"/>
            <a:ext cx="13359285" cy="419100"/>
          </a:xfrm>
          <a:prstGeom prst="rect">
            <a:avLst/>
          </a:prstGeom>
        </p:spPr>
        <p:txBody>
          <a:bodyPr lIns="0" tIns="0" rIns="0" bIns="0" rtlCol="0" anchor="t">
            <a:spAutoFit/>
          </a:bodyPr>
          <a:lstStyle/>
          <a:p>
            <a:pPr algn="just">
              <a:lnSpc>
                <a:spcPts val="3359"/>
              </a:lnSpc>
              <a:spcBef>
                <a:spcPct val="0"/>
              </a:spcBef>
            </a:pPr>
            <a:r>
              <a:rPr lang="en-US" sz="2799">
                <a:solidFill>
                  <a:srgbClr val="000000"/>
                </a:solidFill>
                <a:latin typeface="DM Sans"/>
                <a:ea typeface="DM Sans"/>
                <a:cs typeface="DM Sans"/>
                <a:sym typeface="DM Sans"/>
              </a:rPr>
              <a:t>The administrator configures or updates tariff plans, which are stored centrally.</a:t>
            </a:r>
          </a:p>
        </p:txBody>
      </p:sp>
      <p:sp>
        <p:nvSpPr>
          <p:cNvPr id="9" name="TextBox 9"/>
          <p:cNvSpPr txBox="1"/>
          <p:nvPr/>
        </p:nvSpPr>
        <p:spPr>
          <a:xfrm>
            <a:off x="1028700" y="2337639"/>
            <a:ext cx="13359285" cy="41910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DM Sans"/>
                <a:ea typeface="DM Sans"/>
                <a:cs typeface="DM Sans"/>
                <a:sym typeface="DM Sans"/>
              </a:rPr>
              <a:t>Phase 1: Administrative Setup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341712" y="4522151"/>
            <a:ext cx="11797323" cy="5131835"/>
          </a:xfrm>
          <a:custGeom>
            <a:avLst/>
            <a:gdLst/>
            <a:ahLst/>
            <a:cxnLst/>
            <a:rect l="l" t="t" r="r" b="b"/>
            <a:pathLst>
              <a:path w="11797323" h="5131835">
                <a:moveTo>
                  <a:pt x="0" y="0"/>
                </a:moveTo>
                <a:lnTo>
                  <a:pt x="11797322" y="0"/>
                </a:lnTo>
                <a:lnTo>
                  <a:pt x="11797322" y="5131835"/>
                </a:lnTo>
                <a:lnTo>
                  <a:pt x="0" y="5131835"/>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Application Life Cycle</a:t>
            </a:r>
          </a:p>
        </p:txBody>
      </p:sp>
      <p:sp>
        <p:nvSpPr>
          <p:cNvPr id="7" name="TextBox 7"/>
          <p:cNvSpPr txBox="1"/>
          <p:nvPr/>
        </p:nvSpPr>
        <p:spPr>
          <a:xfrm>
            <a:off x="1028700" y="4316073"/>
            <a:ext cx="5313012" cy="6256020"/>
          </a:xfrm>
          <a:prstGeom prst="rect">
            <a:avLst/>
          </a:prstGeom>
        </p:spPr>
        <p:txBody>
          <a:bodyPr lIns="0" tIns="0" rIns="0" bIns="0" rtlCol="0" anchor="t">
            <a:spAutoFit/>
          </a:bodyPr>
          <a:lstStyle/>
          <a:p>
            <a:pPr marL="0" lvl="0" indent="0" algn="l">
              <a:lnSpc>
                <a:spcPts val="4199"/>
              </a:lnSpc>
            </a:pPr>
            <a:r>
              <a:rPr lang="en-US" sz="2799">
                <a:solidFill>
                  <a:srgbClr val="000000"/>
                </a:solidFill>
                <a:latin typeface="Open Sans"/>
                <a:ea typeface="Open Sans"/>
                <a:cs typeface="Open Sans"/>
                <a:sym typeface="Open Sans"/>
              </a:rPr>
              <a:t>1.    Consumer submits a registration request through the Gateway.</a:t>
            </a:r>
          </a:p>
          <a:p>
            <a:pPr marL="0" lvl="0" indent="0" algn="l">
              <a:lnSpc>
                <a:spcPts val="4199"/>
              </a:lnSpc>
            </a:pPr>
            <a:r>
              <a:rPr lang="en-US" sz="2799">
                <a:solidFill>
                  <a:srgbClr val="000000"/>
                </a:solidFill>
                <a:latin typeface="Open Sans"/>
                <a:ea typeface="Open Sans"/>
                <a:cs typeface="Open Sans"/>
                <a:sym typeface="Open Sans"/>
              </a:rPr>
              <a:t>2.    Consumer Service creates a consumer request.</a:t>
            </a:r>
          </a:p>
          <a:p>
            <a:pPr marL="0" lvl="0" indent="0" algn="l">
              <a:lnSpc>
                <a:spcPts val="4199"/>
              </a:lnSpc>
            </a:pPr>
            <a:r>
              <a:rPr lang="en-US" sz="2799">
                <a:solidFill>
                  <a:srgbClr val="000000"/>
                </a:solidFill>
                <a:latin typeface="Open Sans"/>
                <a:ea typeface="Open Sans"/>
                <a:cs typeface="Open Sans"/>
                <a:sym typeface="Open Sans"/>
              </a:rPr>
              <a:t>3.    Admin approves the consumer request.</a:t>
            </a:r>
          </a:p>
          <a:p>
            <a:pPr marL="0" lvl="0" indent="0" algn="l">
              <a:lnSpc>
                <a:spcPts val="4199"/>
              </a:lnSpc>
            </a:pPr>
            <a:r>
              <a:rPr lang="en-US" sz="2799">
                <a:solidFill>
                  <a:srgbClr val="000000"/>
                </a:solidFill>
                <a:latin typeface="Open Sans"/>
                <a:ea typeface="Open Sans"/>
                <a:cs typeface="Open Sans"/>
                <a:sym typeface="Open Sans"/>
              </a:rPr>
              <a:t>4.    Auth Service creates login credentials.</a:t>
            </a:r>
          </a:p>
          <a:p>
            <a:pPr algn="l">
              <a:lnSpc>
                <a:spcPts val="4199"/>
              </a:lnSpc>
            </a:pPr>
            <a:r>
              <a:rPr lang="en-US" sz="2799">
                <a:solidFill>
                  <a:srgbClr val="000000"/>
                </a:solidFill>
                <a:latin typeface="Open Sans"/>
                <a:ea typeface="Open Sans"/>
                <a:cs typeface="Open Sans"/>
                <a:sym typeface="Open Sans"/>
              </a:rPr>
              <a:t>5.    Credentials are sent to the consumer via email.</a:t>
            </a:r>
          </a:p>
          <a:p>
            <a:pPr marL="0" lvl="0" indent="0" algn="l">
              <a:lnSpc>
                <a:spcPts val="4199"/>
              </a:lnSpc>
            </a:pPr>
            <a:endParaRPr lang="en-US" sz="2799">
              <a:solidFill>
                <a:srgbClr val="000000"/>
              </a:solidFill>
              <a:latin typeface="Open Sans"/>
              <a:ea typeface="Open Sans"/>
              <a:cs typeface="Open Sans"/>
              <a:sym typeface="Open Sans"/>
            </a:endParaRPr>
          </a:p>
        </p:txBody>
      </p:sp>
      <p:sp>
        <p:nvSpPr>
          <p:cNvPr id="8" name="TextBox 8"/>
          <p:cNvSpPr txBox="1"/>
          <p:nvPr/>
        </p:nvSpPr>
        <p:spPr>
          <a:xfrm>
            <a:off x="1433881" y="3118689"/>
            <a:ext cx="13359285" cy="1257300"/>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DM Sans"/>
                <a:ea typeface="DM Sans"/>
                <a:cs typeface="DM Sans"/>
                <a:sym typeface="DM Sans"/>
              </a:rPr>
              <a:t>A consumer registers in the system and gets approved by the administrator to gain portal access.</a:t>
            </a:r>
          </a:p>
          <a:p>
            <a:pPr algn="l">
              <a:lnSpc>
                <a:spcPts val="3359"/>
              </a:lnSpc>
              <a:spcBef>
                <a:spcPct val="0"/>
              </a:spcBef>
            </a:pPr>
            <a:endParaRPr lang="en-US" sz="2799">
              <a:solidFill>
                <a:srgbClr val="000000"/>
              </a:solidFill>
              <a:latin typeface="DM Sans"/>
              <a:ea typeface="DM Sans"/>
              <a:cs typeface="DM Sans"/>
              <a:sym typeface="DM Sans"/>
            </a:endParaRPr>
          </a:p>
        </p:txBody>
      </p:sp>
      <p:sp>
        <p:nvSpPr>
          <p:cNvPr id="9" name="TextBox 9"/>
          <p:cNvSpPr txBox="1"/>
          <p:nvPr/>
        </p:nvSpPr>
        <p:spPr>
          <a:xfrm>
            <a:off x="1028700" y="2337639"/>
            <a:ext cx="13359285" cy="41910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DM Sans"/>
                <a:ea typeface="DM Sans"/>
                <a:cs typeface="DM Sans"/>
                <a:sym typeface="DM Sans"/>
              </a:rPr>
              <a:t>Phase 2: User Onboarding &amp; Approval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893737" y="3997831"/>
            <a:ext cx="10839274" cy="5920953"/>
          </a:xfrm>
          <a:custGeom>
            <a:avLst/>
            <a:gdLst/>
            <a:ahLst/>
            <a:cxnLst/>
            <a:rect l="l" t="t" r="r" b="b"/>
            <a:pathLst>
              <a:path w="10839274" h="5920953">
                <a:moveTo>
                  <a:pt x="0" y="0"/>
                </a:moveTo>
                <a:lnTo>
                  <a:pt x="10839274" y="0"/>
                </a:lnTo>
                <a:lnTo>
                  <a:pt x="10839274" y="5920953"/>
                </a:lnTo>
                <a:lnTo>
                  <a:pt x="0" y="5920953"/>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Application Life Cycle</a:t>
            </a:r>
          </a:p>
        </p:txBody>
      </p:sp>
      <p:sp>
        <p:nvSpPr>
          <p:cNvPr id="7" name="TextBox 7"/>
          <p:cNvSpPr txBox="1"/>
          <p:nvPr/>
        </p:nvSpPr>
        <p:spPr>
          <a:xfrm>
            <a:off x="1028700" y="4316073"/>
            <a:ext cx="5313012" cy="5208270"/>
          </a:xfrm>
          <a:prstGeom prst="rect">
            <a:avLst/>
          </a:prstGeom>
        </p:spPr>
        <p:txBody>
          <a:bodyPr lIns="0" tIns="0" rIns="0" bIns="0" rtlCol="0" anchor="t">
            <a:spAutoFit/>
          </a:bodyPr>
          <a:lstStyle/>
          <a:p>
            <a:pPr marL="0" lvl="0" indent="0" algn="l">
              <a:lnSpc>
                <a:spcPts val="4199"/>
              </a:lnSpc>
            </a:pPr>
            <a:r>
              <a:rPr lang="en-US" sz="2799">
                <a:solidFill>
                  <a:srgbClr val="000000"/>
                </a:solidFill>
                <a:latin typeface="Open Sans"/>
                <a:ea typeface="Open Sans"/>
                <a:cs typeface="Open Sans"/>
                <a:sym typeface="Open Sans"/>
              </a:rPr>
              <a:t>1.    Consumer requests a utility connection.</a:t>
            </a:r>
          </a:p>
          <a:p>
            <a:pPr marL="0" lvl="0" indent="0" algn="l">
              <a:lnSpc>
                <a:spcPts val="4199"/>
              </a:lnSpc>
            </a:pPr>
            <a:r>
              <a:rPr lang="en-US" sz="2799">
                <a:solidFill>
                  <a:srgbClr val="000000"/>
                </a:solidFill>
                <a:latin typeface="Open Sans"/>
                <a:ea typeface="Open Sans"/>
                <a:cs typeface="Open Sans"/>
                <a:sym typeface="Open Sans"/>
              </a:rPr>
              <a:t>2.    Meter Service records the connection request.</a:t>
            </a:r>
          </a:p>
          <a:p>
            <a:pPr marL="0" lvl="0" indent="0" algn="l">
              <a:lnSpc>
                <a:spcPts val="4199"/>
              </a:lnSpc>
            </a:pPr>
            <a:r>
              <a:rPr lang="en-US" sz="2799">
                <a:solidFill>
                  <a:srgbClr val="000000"/>
                </a:solidFill>
                <a:latin typeface="Open Sans"/>
                <a:ea typeface="Open Sans"/>
                <a:cs typeface="Open Sans"/>
                <a:sym typeface="Open Sans"/>
              </a:rPr>
              <a:t>3.    Admin approves the connection request.</a:t>
            </a:r>
          </a:p>
          <a:p>
            <a:pPr marL="0" lvl="0" indent="0" algn="l">
              <a:lnSpc>
                <a:spcPts val="4199"/>
              </a:lnSpc>
            </a:pPr>
            <a:r>
              <a:rPr lang="en-US" sz="2799">
                <a:solidFill>
                  <a:srgbClr val="000000"/>
                </a:solidFill>
                <a:latin typeface="Open Sans"/>
                <a:ea typeface="Open Sans"/>
                <a:cs typeface="Open Sans"/>
                <a:sym typeface="Open Sans"/>
              </a:rPr>
              <a:t>4.    A meter is initialized.</a:t>
            </a:r>
          </a:p>
          <a:p>
            <a:pPr algn="l">
              <a:lnSpc>
                <a:spcPts val="4199"/>
              </a:lnSpc>
            </a:pPr>
            <a:r>
              <a:rPr lang="en-US" sz="2799">
                <a:solidFill>
                  <a:srgbClr val="000000"/>
                </a:solidFill>
                <a:latin typeface="Open Sans"/>
                <a:ea typeface="Open Sans"/>
                <a:cs typeface="Open Sans"/>
                <a:sym typeface="Open Sans"/>
              </a:rPr>
              <a:t>5.    Consumer is notified about service activation.</a:t>
            </a:r>
          </a:p>
          <a:p>
            <a:pPr marL="0" lvl="0" indent="0" algn="l">
              <a:lnSpc>
                <a:spcPts val="4199"/>
              </a:lnSpc>
            </a:pPr>
            <a:endParaRPr lang="en-US" sz="2799">
              <a:solidFill>
                <a:srgbClr val="000000"/>
              </a:solidFill>
              <a:latin typeface="Open Sans"/>
              <a:ea typeface="Open Sans"/>
              <a:cs typeface="Open Sans"/>
              <a:sym typeface="Open Sans"/>
            </a:endParaRPr>
          </a:p>
        </p:txBody>
      </p:sp>
      <p:sp>
        <p:nvSpPr>
          <p:cNvPr id="8" name="TextBox 8"/>
          <p:cNvSpPr txBox="1"/>
          <p:nvPr/>
        </p:nvSpPr>
        <p:spPr>
          <a:xfrm>
            <a:off x="1433881" y="3118689"/>
            <a:ext cx="13359285" cy="1257300"/>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DM Sans"/>
                <a:ea typeface="DM Sans"/>
                <a:cs typeface="DM Sans"/>
                <a:sym typeface="DM Sans"/>
              </a:rPr>
              <a:t>An approved consumer requests a utility connection, which is validated by the administrator and a meter is assigned.</a:t>
            </a:r>
          </a:p>
          <a:p>
            <a:pPr algn="l">
              <a:lnSpc>
                <a:spcPts val="3359"/>
              </a:lnSpc>
              <a:spcBef>
                <a:spcPct val="0"/>
              </a:spcBef>
            </a:pPr>
            <a:endParaRPr lang="en-US" sz="2799">
              <a:solidFill>
                <a:srgbClr val="000000"/>
              </a:solidFill>
              <a:latin typeface="DM Sans"/>
              <a:ea typeface="DM Sans"/>
              <a:cs typeface="DM Sans"/>
              <a:sym typeface="DM Sans"/>
            </a:endParaRPr>
          </a:p>
        </p:txBody>
      </p:sp>
      <p:sp>
        <p:nvSpPr>
          <p:cNvPr id="9" name="TextBox 9"/>
          <p:cNvSpPr txBox="1"/>
          <p:nvPr/>
        </p:nvSpPr>
        <p:spPr>
          <a:xfrm>
            <a:off x="1028700" y="2337639"/>
            <a:ext cx="13359285" cy="41910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DM Sans"/>
                <a:ea typeface="DM Sans"/>
                <a:cs typeface="DM Sans"/>
                <a:sym typeface="DM Sans"/>
              </a:rPr>
              <a:t>Phase 3: Connection &amp; Meter Assignment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341712" y="5298872"/>
            <a:ext cx="11946288" cy="4076671"/>
          </a:xfrm>
          <a:custGeom>
            <a:avLst/>
            <a:gdLst/>
            <a:ahLst/>
            <a:cxnLst/>
            <a:rect l="l" t="t" r="r" b="b"/>
            <a:pathLst>
              <a:path w="11946288" h="4076671">
                <a:moveTo>
                  <a:pt x="0" y="0"/>
                </a:moveTo>
                <a:lnTo>
                  <a:pt x="11946288" y="0"/>
                </a:lnTo>
                <a:lnTo>
                  <a:pt x="11946288" y="4076671"/>
                </a:lnTo>
                <a:lnTo>
                  <a:pt x="0" y="4076671"/>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Application Life Cycle</a:t>
            </a:r>
          </a:p>
        </p:txBody>
      </p:sp>
      <p:sp>
        <p:nvSpPr>
          <p:cNvPr id="7" name="TextBox 7"/>
          <p:cNvSpPr txBox="1"/>
          <p:nvPr/>
        </p:nvSpPr>
        <p:spPr>
          <a:xfrm>
            <a:off x="1028700" y="4316073"/>
            <a:ext cx="5313012" cy="6256020"/>
          </a:xfrm>
          <a:prstGeom prst="rect">
            <a:avLst/>
          </a:prstGeom>
        </p:spPr>
        <p:txBody>
          <a:bodyPr lIns="0" tIns="0" rIns="0" bIns="0" rtlCol="0" anchor="t">
            <a:spAutoFit/>
          </a:bodyPr>
          <a:lstStyle/>
          <a:p>
            <a:pPr marL="0" lvl="0" indent="0" algn="l">
              <a:lnSpc>
                <a:spcPts val="4199"/>
              </a:lnSpc>
            </a:pPr>
            <a:r>
              <a:rPr lang="en-US" sz="2799">
                <a:solidFill>
                  <a:srgbClr val="000000"/>
                </a:solidFill>
                <a:latin typeface="Open Sans"/>
                <a:ea typeface="Open Sans"/>
                <a:cs typeface="Open Sans"/>
                <a:sym typeface="Open Sans"/>
              </a:rPr>
              <a:t>1.    Billing Officer records meter readings.</a:t>
            </a:r>
          </a:p>
          <a:p>
            <a:pPr marL="0" lvl="0" indent="0" algn="l">
              <a:lnSpc>
                <a:spcPts val="4199"/>
              </a:lnSpc>
            </a:pPr>
            <a:r>
              <a:rPr lang="en-US" sz="2799">
                <a:solidFill>
                  <a:srgbClr val="000000"/>
                </a:solidFill>
                <a:latin typeface="Open Sans"/>
                <a:ea typeface="Open Sans"/>
                <a:cs typeface="Open Sans"/>
                <a:sym typeface="Open Sans"/>
              </a:rPr>
              <a:t>2.    Meter Service validates and forwards data for billing.</a:t>
            </a:r>
          </a:p>
          <a:p>
            <a:pPr marL="0" lvl="0" indent="0" algn="l">
              <a:lnSpc>
                <a:spcPts val="4199"/>
              </a:lnSpc>
            </a:pPr>
            <a:r>
              <a:rPr lang="en-US" sz="2799">
                <a:solidFill>
                  <a:srgbClr val="000000"/>
                </a:solidFill>
                <a:latin typeface="Open Sans"/>
                <a:ea typeface="Open Sans"/>
                <a:cs typeface="Open Sans"/>
                <a:sym typeface="Open Sans"/>
              </a:rPr>
              <a:t>3.    Billing Service retrieves tariff and consumer details.</a:t>
            </a:r>
          </a:p>
          <a:p>
            <a:pPr marL="0" lvl="0" indent="0" algn="l">
              <a:lnSpc>
                <a:spcPts val="4199"/>
              </a:lnSpc>
            </a:pPr>
            <a:r>
              <a:rPr lang="en-US" sz="2799">
                <a:solidFill>
                  <a:srgbClr val="000000"/>
                </a:solidFill>
                <a:latin typeface="Open Sans"/>
                <a:ea typeface="Open Sans"/>
                <a:cs typeface="Open Sans"/>
                <a:sym typeface="Open Sans"/>
              </a:rPr>
              <a:t>4.    Bill amount is calculated based on consumption and slabs.</a:t>
            </a:r>
          </a:p>
          <a:p>
            <a:pPr algn="l">
              <a:lnSpc>
                <a:spcPts val="4199"/>
              </a:lnSpc>
            </a:pPr>
            <a:r>
              <a:rPr lang="en-US" sz="2799">
                <a:solidFill>
                  <a:srgbClr val="000000"/>
                </a:solidFill>
                <a:latin typeface="Open Sans"/>
                <a:ea typeface="Open Sans"/>
                <a:cs typeface="Open Sans"/>
                <a:sym typeface="Open Sans"/>
              </a:rPr>
              <a:t>5.    Bill is generated and notified to the consumer.</a:t>
            </a:r>
          </a:p>
          <a:p>
            <a:pPr marL="0" lvl="0" indent="0" algn="l">
              <a:lnSpc>
                <a:spcPts val="4199"/>
              </a:lnSpc>
            </a:pPr>
            <a:endParaRPr lang="en-US" sz="2799">
              <a:solidFill>
                <a:srgbClr val="000000"/>
              </a:solidFill>
              <a:latin typeface="Open Sans"/>
              <a:ea typeface="Open Sans"/>
              <a:cs typeface="Open Sans"/>
              <a:sym typeface="Open Sans"/>
            </a:endParaRPr>
          </a:p>
        </p:txBody>
      </p:sp>
      <p:sp>
        <p:nvSpPr>
          <p:cNvPr id="8" name="TextBox 8"/>
          <p:cNvSpPr txBox="1"/>
          <p:nvPr/>
        </p:nvSpPr>
        <p:spPr>
          <a:xfrm>
            <a:off x="1433881" y="3118689"/>
            <a:ext cx="13359285" cy="1257300"/>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DM Sans"/>
                <a:ea typeface="DM Sans"/>
                <a:cs typeface="DM Sans"/>
                <a:sym typeface="DM Sans"/>
              </a:rPr>
              <a:t>Periodic meter readings are recorded by the billing officer and used to generate utility bills for consumers.</a:t>
            </a:r>
          </a:p>
          <a:p>
            <a:pPr algn="l">
              <a:lnSpc>
                <a:spcPts val="3359"/>
              </a:lnSpc>
              <a:spcBef>
                <a:spcPct val="0"/>
              </a:spcBef>
            </a:pPr>
            <a:endParaRPr lang="en-US" sz="2799">
              <a:solidFill>
                <a:srgbClr val="000000"/>
              </a:solidFill>
              <a:latin typeface="DM Sans"/>
              <a:ea typeface="DM Sans"/>
              <a:cs typeface="DM Sans"/>
              <a:sym typeface="DM Sans"/>
            </a:endParaRPr>
          </a:p>
        </p:txBody>
      </p:sp>
      <p:sp>
        <p:nvSpPr>
          <p:cNvPr id="9" name="TextBox 9"/>
          <p:cNvSpPr txBox="1"/>
          <p:nvPr/>
        </p:nvSpPr>
        <p:spPr>
          <a:xfrm>
            <a:off x="1028700" y="2337639"/>
            <a:ext cx="13359285" cy="41910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DM Sans"/>
                <a:ea typeface="DM Sans"/>
                <a:cs typeface="DM Sans"/>
                <a:sym typeface="DM Sans"/>
              </a:rPr>
              <a:t>Phase 4: Billing Cycle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817922" y="3521233"/>
            <a:ext cx="10883979" cy="6680042"/>
          </a:xfrm>
          <a:custGeom>
            <a:avLst/>
            <a:gdLst/>
            <a:ahLst/>
            <a:cxnLst/>
            <a:rect l="l" t="t" r="r" b="b"/>
            <a:pathLst>
              <a:path w="10883979" h="6680042">
                <a:moveTo>
                  <a:pt x="0" y="0"/>
                </a:moveTo>
                <a:lnTo>
                  <a:pt x="10883979" y="0"/>
                </a:lnTo>
                <a:lnTo>
                  <a:pt x="10883979" y="6680042"/>
                </a:lnTo>
                <a:lnTo>
                  <a:pt x="0" y="6680042"/>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Application Life Cycle</a:t>
            </a:r>
          </a:p>
        </p:txBody>
      </p:sp>
      <p:sp>
        <p:nvSpPr>
          <p:cNvPr id="7" name="TextBox 7"/>
          <p:cNvSpPr txBox="1"/>
          <p:nvPr/>
        </p:nvSpPr>
        <p:spPr>
          <a:xfrm>
            <a:off x="1028700" y="4316073"/>
            <a:ext cx="5313012" cy="5732145"/>
          </a:xfrm>
          <a:prstGeom prst="rect">
            <a:avLst/>
          </a:prstGeom>
        </p:spPr>
        <p:txBody>
          <a:bodyPr lIns="0" tIns="0" rIns="0" bIns="0" rtlCol="0" anchor="t">
            <a:spAutoFit/>
          </a:bodyPr>
          <a:lstStyle/>
          <a:p>
            <a:pPr marL="0" lvl="0" indent="0" algn="l">
              <a:lnSpc>
                <a:spcPts val="4199"/>
              </a:lnSpc>
            </a:pPr>
            <a:r>
              <a:rPr lang="en-US" sz="2799">
                <a:solidFill>
                  <a:srgbClr val="000000"/>
                </a:solidFill>
                <a:latin typeface="Open Sans"/>
                <a:ea typeface="Open Sans"/>
                <a:cs typeface="Open Sans"/>
                <a:sym typeface="Open Sans"/>
              </a:rPr>
              <a:t>1.    Consumer initiates online payment and requests OTP.</a:t>
            </a:r>
          </a:p>
          <a:p>
            <a:pPr marL="0" lvl="0" indent="0" algn="l">
              <a:lnSpc>
                <a:spcPts val="4199"/>
              </a:lnSpc>
            </a:pPr>
            <a:r>
              <a:rPr lang="en-US" sz="2799">
                <a:solidFill>
                  <a:srgbClr val="000000"/>
                </a:solidFill>
                <a:latin typeface="Open Sans"/>
                <a:ea typeface="Open Sans"/>
                <a:cs typeface="Open Sans"/>
                <a:sym typeface="Open Sans"/>
              </a:rPr>
              <a:t>2.    OTP is sent and verified before confirmation.</a:t>
            </a:r>
          </a:p>
          <a:p>
            <a:pPr marL="0" lvl="0" indent="0" algn="l">
              <a:lnSpc>
                <a:spcPts val="4199"/>
              </a:lnSpc>
            </a:pPr>
            <a:r>
              <a:rPr lang="en-US" sz="2799">
                <a:solidFill>
                  <a:srgbClr val="000000"/>
                </a:solidFill>
                <a:latin typeface="Open Sans"/>
                <a:ea typeface="Open Sans"/>
                <a:cs typeface="Open Sans"/>
                <a:sym typeface="Open Sans"/>
              </a:rPr>
              <a:t>3.    Accounts Officer can record offline payments.</a:t>
            </a:r>
          </a:p>
          <a:p>
            <a:pPr marL="0" lvl="0" indent="0" algn="l">
              <a:lnSpc>
                <a:spcPts val="4199"/>
              </a:lnSpc>
            </a:pPr>
            <a:r>
              <a:rPr lang="en-US" sz="2799">
                <a:solidFill>
                  <a:srgbClr val="000000"/>
                </a:solidFill>
                <a:latin typeface="Open Sans"/>
                <a:ea typeface="Open Sans"/>
                <a:cs typeface="Open Sans"/>
                <a:sym typeface="Open Sans"/>
              </a:rPr>
              <a:t>4.    Payment Service marks the bill as paid.</a:t>
            </a:r>
          </a:p>
          <a:p>
            <a:pPr algn="l">
              <a:lnSpc>
                <a:spcPts val="4199"/>
              </a:lnSpc>
            </a:pPr>
            <a:r>
              <a:rPr lang="en-US" sz="2799">
                <a:solidFill>
                  <a:srgbClr val="000000"/>
                </a:solidFill>
                <a:latin typeface="Open Sans"/>
                <a:ea typeface="Open Sans"/>
                <a:cs typeface="Open Sans"/>
                <a:sym typeface="Open Sans"/>
              </a:rPr>
              <a:t>5.    Invoice is generated and emailed to the consumer.</a:t>
            </a:r>
          </a:p>
          <a:p>
            <a:pPr marL="0" lvl="0" indent="0" algn="l">
              <a:lnSpc>
                <a:spcPts val="4199"/>
              </a:lnSpc>
            </a:pPr>
            <a:endParaRPr lang="en-US" sz="2799">
              <a:solidFill>
                <a:srgbClr val="000000"/>
              </a:solidFill>
              <a:latin typeface="Open Sans"/>
              <a:ea typeface="Open Sans"/>
              <a:cs typeface="Open Sans"/>
              <a:sym typeface="Open Sans"/>
            </a:endParaRPr>
          </a:p>
        </p:txBody>
      </p:sp>
      <p:sp>
        <p:nvSpPr>
          <p:cNvPr id="8" name="TextBox 8"/>
          <p:cNvSpPr txBox="1"/>
          <p:nvPr/>
        </p:nvSpPr>
        <p:spPr>
          <a:xfrm>
            <a:off x="1433881" y="3118689"/>
            <a:ext cx="13359285" cy="1257300"/>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DM Sans"/>
                <a:ea typeface="DM Sans"/>
                <a:cs typeface="DM Sans"/>
                <a:sym typeface="DM Sans"/>
              </a:rPr>
              <a:t>Consumers settle bills through online or offline payment methods, and invoices are generated.</a:t>
            </a:r>
          </a:p>
          <a:p>
            <a:pPr algn="l">
              <a:lnSpc>
                <a:spcPts val="3359"/>
              </a:lnSpc>
              <a:spcBef>
                <a:spcPct val="0"/>
              </a:spcBef>
            </a:pPr>
            <a:endParaRPr lang="en-US" sz="2799">
              <a:solidFill>
                <a:srgbClr val="000000"/>
              </a:solidFill>
              <a:latin typeface="DM Sans"/>
              <a:ea typeface="DM Sans"/>
              <a:cs typeface="DM Sans"/>
              <a:sym typeface="DM Sans"/>
            </a:endParaRPr>
          </a:p>
        </p:txBody>
      </p:sp>
      <p:sp>
        <p:nvSpPr>
          <p:cNvPr id="9" name="TextBox 9"/>
          <p:cNvSpPr txBox="1"/>
          <p:nvPr/>
        </p:nvSpPr>
        <p:spPr>
          <a:xfrm>
            <a:off x="1028700" y="2337639"/>
            <a:ext cx="13359285" cy="41910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DM Sans"/>
                <a:ea typeface="DM Sans"/>
                <a:cs typeface="DM Sans"/>
                <a:sym typeface="DM Sans"/>
              </a:rPr>
              <a:t>Phase 5: Payments &amp; Accounting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450813" y="2173928"/>
            <a:ext cx="14917955" cy="7514920"/>
          </a:xfrm>
          <a:custGeom>
            <a:avLst/>
            <a:gdLst/>
            <a:ahLst/>
            <a:cxnLst/>
            <a:rect l="l" t="t" r="r" b="b"/>
            <a:pathLst>
              <a:path w="14917955" h="7514920">
                <a:moveTo>
                  <a:pt x="0" y="0"/>
                </a:moveTo>
                <a:lnTo>
                  <a:pt x="14917955" y="0"/>
                </a:lnTo>
                <a:lnTo>
                  <a:pt x="14917955" y="7514920"/>
                </a:lnTo>
                <a:lnTo>
                  <a:pt x="0" y="7514920"/>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Sonarqube Report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781701" y="2152277"/>
            <a:ext cx="14724599" cy="7785632"/>
          </a:xfrm>
          <a:custGeom>
            <a:avLst/>
            <a:gdLst/>
            <a:ahLst/>
            <a:cxnLst/>
            <a:rect l="l" t="t" r="r" b="b"/>
            <a:pathLst>
              <a:path w="14724599" h="7785632">
                <a:moveTo>
                  <a:pt x="0" y="0"/>
                </a:moveTo>
                <a:lnTo>
                  <a:pt x="14724598" y="0"/>
                </a:lnTo>
                <a:lnTo>
                  <a:pt x="14724598" y="7785632"/>
                </a:lnTo>
                <a:lnTo>
                  <a:pt x="0" y="7785632"/>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Docker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111996" y="2129277"/>
            <a:ext cx="16554027" cy="7925241"/>
          </a:xfrm>
          <a:custGeom>
            <a:avLst/>
            <a:gdLst/>
            <a:ahLst/>
            <a:cxnLst/>
            <a:rect l="l" t="t" r="r" b="b"/>
            <a:pathLst>
              <a:path w="16554027" h="7925241">
                <a:moveTo>
                  <a:pt x="0" y="0"/>
                </a:moveTo>
                <a:lnTo>
                  <a:pt x="16554027" y="0"/>
                </a:lnTo>
                <a:lnTo>
                  <a:pt x="16554027" y="7925241"/>
                </a:lnTo>
                <a:lnTo>
                  <a:pt x="0" y="7925241"/>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Jenkins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grpSp>
        <p:nvGrpSpPr>
          <p:cNvPr id="2" name="Group 2"/>
          <p:cNvGrpSpPr/>
          <p:nvPr/>
        </p:nvGrpSpPr>
        <p:grpSpPr>
          <a:xfrm>
            <a:off x="15146533" y="0"/>
            <a:ext cx="3983039" cy="10287000"/>
            <a:chOff x="0" y="0"/>
            <a:chExt cx="1049031" cy="2709333"/>
          </a:xfrm>
        </p:grpSpPr>
        <p:sp>
          <p:nvSpPr>
            <p:cNvPr id="3" name="Freeform 3"/>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4" name="TextBox 4"/>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028700" y="1971675"/>
            <a:ext cx="16048040" cy="7983900"/>
          </a:xfrm>
          <a:custGeom>
            <a:avLst/>
            <a:gdLst/>
            <a:ahLst/>
            <a:cxnLst/>
            <a:rect l="l" t="t" r="r" b="b"/>
            <a:pathLst>
              <a:path w="16048040" h="7983900">
                <a:moveTo>
                  <a:pt x="0" y="0"/>
                </a:moveTo>
                <a:lnTo>
                  <a:pt x="16048040" y="0"/>
                </a:lnTo>
                <a:lnTo>
                  <a:pt x="16048040" y="7983900"/>
                </a:lnTo>
                <a:lnTo>
                  <a:pt x="0" y="7983900"/>
                </a:lnTo>
                <a:lnTo>
                  <a:pt x="0" y="0"/>
                </a:lnTo>
                <a:close/>
              </a:path>
            </a:pathLst>
          </a:custGeom>
          <a:blipFill>
            <a:blip r:embed="rId2"/>
            <a:stretch>
              <a:fillRect/>
            </a:stretch>
          </a:blipFill>
        </p:spPr>
      </p:sp>
      <p:sp>
        <p:nvSpPr>
          <p:cNvPr id="6" name="TextBox 6"/>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Jenkins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extBox 2"/>
          <p:cNvSpPr txBox="1"/>
          <p:nvPr/>
        </p:nvSpPr>
        <p:spPr>
          <a:xfrm>
            <a:off x="1111996" y="1028700"/>
            <a:ext cx="10970385" cy="942975"/>
          </a:xfrm>
          <a:prstGeom prst="rect">
            <a:avLst/>
          </a:prstGeom>
        </p:spPr>
        <p:txBody>
          <a:bodyPr lIns="0" tIns="0" rIns="0" bIns="0" rtlCol="0" anchor="t">
            <a:spAutoFit/>
          </a:bodyPr>
          <a:lstStyle/>
          <a:p>
            <a:pPr marL="0" lvl="0" indent="0" algn="l">
              <a:lnSpc>
                <a:spcPts val="7458"/>
              </a:lnSpc>
              <a:spcBef>
                <a:spcPct val="0"/>
              </a:spcBef>
            </a:pPr>
            <a:r>
              <a:rPr lang="en-US" sz="6215">
                <a:solidFill>
                  <a:srgbClr val="000000"/>
                </a:solidFill>
                <a:latin typeface="DM Sans"/>
                <a:ea typeface="DM Sans"/>
                <a:cs typeface="DM Sans"/>
                <a:sym typeface="DM Sans"/>
              </a:rPr>
              <a:t>Conclusion</a:t>
            </a:r>
          </a:p>
        </p:txBody>
      </p:sp>
      <p:grpSp>
        <p:nvGrpSpPr>
          <p:cNvPr id="3" name="Group 3"/>
          <p:cNvGrpSpPr/>
          <p:nvPr/>
        </p:nvGrpSpPr>
        <p:grpSpPr>
          <a:xfrm>
            <a:off x="15146533" y="0"/>
            <a:ext cx="3983039" cy="10287000"/>
            <a:chOff x="0" y="0"/>
            <a:chExt cx="1049031" cy="2709333"/>
          </a:xfrm>
        </p:grpSpPr>
        <p:sp>
          <p:nvSpPr>
            <p:cNvPr id="4" name="Freeform 4"/>
            <p:cNvSpPr/>
            <p:nvPr/>
          </p:nvSpPr>
          <p:spPr>
            <a:xfrm>
              <a:off x="0" y="0"/>
              <a:ext cx="1049031" cy="2709333"/>
            </a:xfrm>
            <a:custGeom>
              <a:avLst/>
              <a:gdLst/>
              <a:ahLst/>
              <a:cxnLst/>
              <a:rect l="l" t="t" r="r" b="b"/>
              <a:pathLst>
                <a:path w="1049031" h="2709333">
                  <a:moveTo>
                    <a:pt x="0" y="0"/>
                  </a:moveTo>
                  <a:lnTo>
                    <a:pt x="1049031" y="0"/>
                  </a:lnTo>
                  <a:lnTo>
                    <a:pt x="1049031" y="2709333"/>
                  </a:lnTo>
                  <a:lnTo>
                    <a:pt x="0" y="2709333"/>
                  </a:lnTo>
                  <a:close/>
                </a:path>
              </a:pathLst>
            </a:custGeom>
            <a:solidFill>
              <a:srgbClr val="1E3D58"/>
            </a:solidFill>
          </p:spPr>
        </p:sp>
        <p:sp>
          <p:nvSpPr>
            <p:cNvPr id="5" name="TextBox 5"/>
            <p:cNvSpPr txBox="1"/>
            <p:nvPr/>
          </p:nvSpPr>
          <p:spPr>
            <a:xfrm>
              <a:off x="0" y="-57150"/>
              <a:ext cx="1049031" cy="2766483"/>
            </a:xfrm>
            <a:prstGeom prst="rect">
              <a:avLst/>
            </a:prstGeom>
          </p:spPr>
          <p:txBody>
            <a:bodyPr lIns="50800" tIns="50800" rIns="50800" bIns="50800" rtlCol="0" anchor="ctr"/>
            <a:lstStyle/>
            <a:p>
              <a:pPr algn="ctr">
                <a:lnSpc>
                  <a:spcPts val="3220"/>
                </a:lnSpc>
              </a:pPr>
              <a:endParaRPr/>
            </a:p>
          </p:txBody>
        </p:sp>
      </p:grpSp>
      <p:sp>
        <p:nvSpPr>
          <p:cNvPr id="6" name="TextBox 6"/>
          <p:cNvSpPr txBox="1"/>
          <p:nvPr/>
        </p:nvSpPr>
        <p:spPr>
          <a:xfrm>
            <a:off x="1111996" y="2386965"/>
            <a:ext cx="13569152" cy="5436870"/>
          </a:xfrm>
          <a:prstGeom prst="rect">
            <a:avLst/>
          </a:prstGeom>
        </p:spPr>
        <p:txBody>
          <a:bodyPr lIns="0" tIns="0" rIns="0" bIns="0" rtlCol="0" anchor="t">
            <a:spAutoFit/>
          </a:bodyPr>
          <a:lstStyle/>
          <a:p>
            <a:pPr algn="just">
              <a:lnSpc>
                <a:spcPts val="4199"/>
              </a:lnSpc>
            </a:pPr>
            <a:r>
              <a:rPr lang="en-US" sz="2799">
                <a:solidFill>
                  <a:srgbClr val="000000"/>
                </a:solidFill>
                <a:latin typeface="Open Sans"/>
                <a:ea typeface="Open Sans"/>
                <a:cs typeface="Open Sans"/>
                <a:sym typeface="Open Sans"/>
              </a:rPr>
              <a:t>The Utility Billing System provides a modern, cloud-ready solution that eliminates manual errors and increases revenue transparency.</a:t>
            </a:r>
          </a:p>
          <a:p>
            <a:pPr algn="just">
              <a:lnSpc>
                <a:spcPts val="4199"/>
              </a:lnSpc>
            </a:pPr>
            <a:endParaRPr lang="en-US" sz="2799">
              <a:solidFill>
                <a:srgbClr val="000000"/>
              </a:solidFill>
              <a:latin typeface="Open Sans"/>
              <a:ea typeface="Open Sans"/>
              <a:cs typeface="Open Sans"/>
              <a:sym typeface="Open Sans"/>
            </a:endParaRPr>
          </a:p>
          <a:p>
            <a:pPr algn="just">
              <a:lnSpc>
                <a:spcPts val="4199"/>
              </a:lnSpc>
            </a:pPr>
            <a:r>
              <a:rPr lang="en-US" sz="2799">
                <a:solidFill>
                  <a:srgbClr val="000000"/>
                </a:solidFill>
                <a:latin typeface="Open Sans"/>
                <a:ea typeface="Open Sans"/>
                <a:cs typeface="Open Sans"/>
                <a:sym typeface="Open Sans"/>
              </a:rPr>
              <a:t>Future Scope:</a:t>
            </a:r>
          </a:p>
          <a:p>
            <a:pPr algn="just">
              <a:lnSpc>
                <a:spcPts val="1800"/>
              </a:lnSpc>
            </a:pPr>
            <a:endParaRPr lang="en-US" sz="2799">
              <a:solidFill>
                <a:srgbClr val="000000"/>
              </a:solidFill>
              <a:latin typeface="Open Sans"/>
              <a:ea typeface="Open Sans"/>
              <a:cs typeface="Open Sans"/>
              <a:sym typeface="Open Sans"/>
            </a:endParaRP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Mobile App: Dedicated Android/iOS app for consumers.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Kafka Integration: Real-time event streaming for large-scale meter notifications.</a:t>
            </a:r>
          </a:p>
          <a:p>
            <a:pPr marL="604519" lvl="1" indent="-302260" algn="just">
              <a:lnSpc>
                <a:spcPts val="4199"/>
              </a:lnSpc>
              <a:buFont typeface="Arial"/>
              <a:buChar char="•"/>
            </a:pPr>
            <a:r>
              <a:rPr lang="en-US" sz="2799">
                <a:solidFill>
                  <a:srgbClr val="000000"/>
                </a:solidFill>
                <a:latin typeface="Open Sans"/>
                <a:ea typeface="Open Sans"/>
                <a:cs typeface="Open Sans"/>
                <a:sym typeface="Open Sans"/>
              </a:rPr>
              <a:t>Smart Metering: IoT integration for automated reading without human intervention.</a:t>
            </a:r>
          </a:p>
          <a:p>
            <a:pPr algn="just">
              <a:lnSpc>
                <a:spcPts val="4199"/>
              </a:lnSpc>
            </a:pPr>
            <a:endParaRPr lang="en-US" sz="2799">
              <a:solidFill>
                <a:srgbClr val="000000"/>
              </a:solidFill>
              <a:latin typeface="Open Sans"/>
              <a:ea typeface="Open Sans"/>
              <a:cs typeface="Open Sans"/>
              <a:sym typeface="Open Sans"/>
            </a:endParaRPr>
          </a:p>
        </p:txBody>
      </p:sp>
      <p:sp>
        <p:nvSpPr>
          <p:cNvPr id="7" name="TextBox 7"/>
          <p:cNvSpPr txBox="1"/>
          <p:nvPr/>
        </p:nvSpPr>
        <p:spPr>
          <a:xfrm>
            <a:off x="6981946" y="8562975"/>
            <a:ext cx="3226932" cy="695325"/>
          </a:xfrm>
          <a:prstGeom prst="rect">
            <a:avLst/>
          </a:prstGeom>
        </p:spPr>
        <p:txBody>
          <a:bodyPr lIns="0" tIns="0" rIns="0" bIns="0" rtlCol="0" anchor="t">
            <a:spAutoFit/>
          </a:bodyPr>
          <a:lstStyle/>
          <a:p>
            <a:pPr marL="0" lvl="0" indent="0" algn="l">
              <a:lnSpc>
                <a:spcPts val="5400"/>
              </a:lnSpc>
              <a:spcBef>
                <a:spcPct val="0"/>
              </a:spcBef>
            </a:pPr>
            <a:r>
              <a:rPr lang="en-US" sz="4500">
                <a:solidFill>
                  <a:srgbClr val="000000"/>
                </a:solidFill>
                <a:latin typeface="DM Sans"/>
                <a:ea typeface="DM Sans"/>
                <a:cs typeface="DM Sans"/>
                <a:sym typeface="DM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948</Words>
  <Application>Microsoft Office PowerPoint</Application>
  <PresentationFormat>Custom</PresentationFormat>
  <Paragraphs>108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DM Sans</vt:lpstr>
      <vt:lpstr>Dream Avenue</vt:lpstr>
      <vt:lpstr>Calibri</vt:lpstr>
      <vt:lpstr>Montserrat Bold</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Utility Billing System</dc:title>
  <cp:lastModifiedBy>Bhavana sree</cp:lastModifiedBy>
  <cp:revision>3</cp:revision>
  <dcterms:created xsi:type="dcterms:W3CDTF">2006-08-16T00:00:00Z</dcterms:created>
  <dcterms:modified xsi:type="dcterms:W3CDTF">2026-01-06T12:54:32Z</dcterms:modified>
  <dc:identifier>DAF9gXy8xOY</dc:identifier>
</cp:coreProperties>
</file>